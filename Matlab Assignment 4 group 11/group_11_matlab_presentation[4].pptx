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91" r:id="rId2"/>
    <p:sldId id="261" r:id="rId3"/>
    <p:sldId id="266" r:id="rId4"/>
    <p:sldId id="267" r:id="rId5"/>
    <p:sldId id="268" r:id="rId6"/>
    <p:sldId id="269" r:id="rId7"/>
    <p:sldId id="280" r:id="rId8"/>
    <p:sldId id="281" r:id="rId9"/>
    <p:sldId id="282" r:id="rId10"/>
    <p:sldId id="292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49" autoAdjust="0"/>
  </p:normalViewPr>
  <p:slideViewPr>
    <p:cSldViewPr snapToGrid="0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6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2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8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7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0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3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2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5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0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4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0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2262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25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97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47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31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89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42811-3D51-42F7-9CA5-2F9D1103FFF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15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27F8-0540-D1DD-F836-25A1AC55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MATLAB PRESENTATION</a:t>
            </a:r>
            <a:br>
              <a:rPr lang="en-GB" dirty="0"/>
            </a:br>
            <a:r>
              <a:rPr lang="en-GB" dirty="0"/>
              <a:t>By GROUP 11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7632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FD93-5A59-47A2-BA34-E9F8ECA4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Group 11 MEMEBERS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B6C5B5A-AD44-4187-8699-E2EB732561D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30122494"/>
              </p:ext>
            </p:extLst>
          </p:nvPr>
        </p:nvGraphicFramePr>
        <p:xfrm>
          <a:off x="1447798" y="1864195"/>
          <a:ext cx="9605634" cy="4282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878">
                  <a:extLst>
                    <a:ext uri="{9D8B030D-6E8A-4147-A177-3AD203B41FA5}">
                      <a16:colId xmlns:a16="http://schemas.microsoft.com/office/drawing/2014/main" val="3926535367"/>
                    </a:ext>
                  </a:extLst>
                </a:gridCol>
                <a:gridCol w="3201878">
                  <a:extLst>
                    <a:ext uri="{9D8B030D-6E8A-4147-A177-3AD203B41FA5}">
                      <a16:colId xmlns:a16="http://schemas.microsoft.com/office/drawing/2014/main" val="869663861"/>
                    </a:ext>
                  </a:extLst>
                </a:gridCol>
                <a:gridCol w="3201878">
                  <a:extLst>
                    <a:ext uri="{9D8B030D-6E8A-4147-A177-3AD203B41FA5}">
                      <a16:colId xmlns:a16="http://schemas.microsoft.com/office/drawing/2014/main" val="9780396"/>
                    </a:ext>
                  </a:extLst>
                </a:gridCol>
              </a:tblGrid>
              <a:tr h="44244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NUMBER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OF STUDY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4052372797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MUKYALA  ROSE MIIRIAM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BU/UP/2024/1041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458464696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OGWANG EMMANUEL 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BU/UP/2024/3254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4292343996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NSAMBA SHAFFIC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BU/UP/2024/5346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MEB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9106962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KAGODA ENOCK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BU/UP/2023/1097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6014200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BUSUULWA HASSAN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BU/UP/2024/3732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AMI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803454947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WAMBI KENNETH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BU/UP/2023/0950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PTI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5137372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ATWIINE SANDRAH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BU/UG/2024/2632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MEB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41111915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ABESIGA KEITH ADAMS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BU/UP/2024/3974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AMI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530619407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WASSWA FRANCIS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BU/UG/2024/2669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APE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368743154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NANDERA JULIET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BU/UP/2024/1047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816552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9870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A691-F01F-57BC-29A7-052F5D35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MATLAB background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E029-11C7-2CD9-D45B-8EC9BC27C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Also known as Matrix Laboratory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developed in the </a:t>
            </a:r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late 1970s as a simple interactive basic matrix calculator.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officially launched as a commercial product in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1984 by MathWorks.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it has introduced several specialized toolboxes for various applications, including control systems and signal processing. 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Simulink</a:t>
            </a:r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environment further allows users to model and simulate dynamic systems graphically.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Recent versions have introduced features like the </a:t>
            </a:r>
            <a:r>
              <a:rPr lang="en-US" sz="20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Live Editor</a:t>
            </a:r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which allows users to create interactive documents that combine code, output, and formatted text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27658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532E-ABCD-9548-5257-2A117BC3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211213"/>
          </a:xfrm>
        </p:spPr>
        <p:txBody>
          <a:bodyPr>
            <a:normAutofit fontScale="90000"/>
          </a:bodyPr>
          <a:lstStyle/>
          <a:p>
            <a:r>
              <a:rPr lang="en-GB" dirty="0"/>
              <a:t>Comparison of recursive and dynamic programming approaches in numerical and algorithm problem solving using </a:t>
            </a:r>
            <a:r>
              <a:rPr lang="en-GB" dirty="0" err="1"/>
              <a:t>matlab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48D3-2F89-6264-49E0-944BFE06D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/>
              <a:t>KEY OBJECTIVES</a:t>
            </a:r>
          </a:p>
          <a:p>
            <a:r>
              <a:rPr lang="en-US" dirty="0"/>
              <a:t>Apply numerical approximation techniques</a:t>
            </a:r>
          </a:p>
          <a:p>
            <a:r>
              <a:rPr lang="en-US" dirty="0"/>
              <a:t>Compare recursive vs dynamic programming methods</a:t>
            </a:r>
          </a:p>
          <a:p>
            <a:r>
              <a:rPr lang="en-US" dirty="0"/>
              <a:t>Analyze computation time and accuracy using plots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553626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1BA6-4361-C70F-65D2-6ACDA35C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752432"/>
          </a:xfrm>
        </p:spPr>
        <p:txBody>
          <a:bodyPr/>
          <a:lstStyle/>
          <a:p>
            <a:r>
              <a:rPr lang="en-GB" dirty="0"/>
              <a:t>Methods used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54267-A321-62DD-3B51-0D8909E76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196866"/>
            <a:ext cx="9603275" cy="3450613"/>
          </a:xfrm>
        </p:spPr>
        <p:txBody>
          <a:bodyPr/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/>
              <a:t>Recursive numerical method(recursive bisection method)</a:t>
            </a:r>
          </a:p>
          <a:p>
            <a:r>
              <a:rPr lang="en-US" dirty="0"/>
              <a:t>Recursive programming(recursive Fibonacci sequence, recursive knapsack problem)</a:t>
            </a:r>
          </a:p>
          <a:p>
            <a:r>
              <a:rPr lang="en-US" dirty="0"/>
              <a:t>Dynamic programming( DP Fibonacci sequence, DP Knapsack problem)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05204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42E5-902D-BD47-2106-B2CC48EF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numerical method(bisection)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D54FC-655B-30B5-8510-21BAA792F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/>
              <a:t>Concept: used to find roots of non-linear equations by repeatedly dividing the interval[</a:t>
            </a:r>
            <a:r>
              <a:rPr lang="en-US" dirty="0" err="1"/>
              <a:t>a,b</a:t>
            </a:r>
            <a:r>
              <a:rPr lang="en-US" dirty="0"/>
              <a:t>]</a:t>
            </a:r>
          </a:p>
          <a:p>
            <a:r>
              <a:rPr lang="en-US" dirty="0"/>
              <a:t>Formula: c = (</a:t>
            </a:r>
            <a:r>
              <a:rPr lang="en-US" dirty="0" err="1"/>
              <a:t>a+b</a:t>
            </a:r>
            <a:r>
              <a:rPr lang="en-US" dirty="0"/>
              <a:t>)/2</a:t>
            </a:r>
          </a:p>
          <a:p>
            <a:r>
              <a:rPr lang="en-US" dirty="0"/>
              <a:t>Stopping criteria: |f(c)|&lt;tolerance</a:t>
            </a:r>
          </a:p>
          <a:p>
            <a:r>
              <a:rPr lang="en-US" dirty="0"/>
              <a:t>MATLAB Function used: </a:t>
            </a:r>
            <a:r>
              <a:rPr lang="en-US" dirty="0" err="1"/>
              <a:t>recursiveBisection</a:t>
            </a:r>
            <a:r>
              <a:rPr lang="en-US" dirty="0"/>
              <a:t>(f, a, b, </a:t>
            </a:r>
            <a:r>
              <a:rPr lang="en-US" dirty="0" err="1"/>
              <a:t>tol</a:t>
            </a:r>
            <a:r>
              <a:rPr lang="en-US" dirty="0"/>
              <a:t>)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7689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C582-66DC-1AD0-BD44-0564F355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Projectile motion problem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9610-A30A-672C-B8AB-18225236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Equation: h(t) = 10 + 20t – 4.9t^2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Goal: find when h(t) = 0 (ball hits the ground)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Method used: recursive bisection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Output: root found = 4.57 seconds( very small computation time)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Graph (figure 1): projectile motion curve showing the root point(impact time)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09251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673B-8305-FB54-070B-0DCF71EF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problem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1DF8B-318C-7A9B-840F-E8E7ED401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Objective: compare recursive and dynamic approaches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0">
              <a:lnSpc>
                <a:spcPct val="106000"/>
              </a:lnSpc>
              <a:spcAft>
                <a:spcPts val="20"/>
              </a:spcAft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0294E1-806C-4F5C-840F-F3AA04DE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43510"/>
              </p:ext>
            </p:extLst>
          </p:nvPr>
        </p:nvGraphicFramePr>
        <p:xfrm>
          <a:off x="1574800" y="2753736"/>
          <a:ext cx="798933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9013">
                  <a:extLst>
                    <a:ext uri="{9D8B030D-6E8A-4147-A177-3AD203B41FA5}">
                      <a16:colId xmlns:a16="http://schemas.microsoft.com/office/drawing/2014/main" val="463327203"/>
                    </a:ext>
                  </a:extLst>
                </a:gridCol>
                <a:gridCol w="2729013">
                  <a:extLst>
                    <a:ext uri="{9D8B030D-6E8A-4147-A177-3AD203B41FA5}">
                      <a16:colId xmlns:a16="http://schemas.microsoft.com/office/drawing/2014/main" val="2870644591"/>
                    </a:ext>
                  </a:extLst>
                </a:gridCol>
                <a:gridCol w="2531304">
                  <a:extLst>
                    <a:ext uri="{9D8B030D-6E8A-4147-A177-3AD203B41FA5}">
                      <a16:colId xmlns:a16="http://schemas.microsoft.com/office/drawing/2014/main" val="3036183234"/>
                    </a:ext>
                  </a:extLst>
                </a:gridCol>
              </a:tblGrid>
              <a:tr h="172344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Efficiency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265054"/>
                  </a:ext>
                </a:extLst>
              </a:tr>
              <a:tr h="513521">
                <a:tc>
                  <a:txBody>
                    <a:bodyPr/>
                    <a:lstStyle/>
                    <a:p>
                      <a:r>
                        <a:rPr lang="en-US" dirty="0"/>
                        <a:t>Recursive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term calls two subproblems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Exponential time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92809"/>
                  </a:ext>
                </a:extLst>
              </a:tr>
              <a:tr h="293440">
                <a:tc>
                  <a:txBody>
                    <a:bodyPr/>
                    <a:lstStyle/>
                    <a:p>
                      <a:r>
                        <a:rPr lang="en-US" dirty="0"/>
                        <a:t>Dynamic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Stores computed results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time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273229"/>
                  </a:ext>
                </a:extLst>
              </a:tr>
              <a:tr h="293440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362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23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D378-D720-0B6F-288F-FF871E0C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442FE-653B-FB77-867E-546AC3AAA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Objective: Maximize value under weight constraint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Graphs (figures 4 and 5):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Time vs Capacity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Value vs Capacity</a:t>
            </a: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5285" indent="-285750">
              <a:lnSpc>
                <a:spcPct val="106000"/>
              </a:lnSpc>
              <a:spcAft>
                <a:spcPts val="20"/>
              </a:spcAft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0">
              <a:lnSpc>
                <a:spcPct val="106000"/>
              </a:lnSpc>
              <a:spcAft>
                <a:spcPts val="20"/>
              </a:spcAft>
              <a:buNone/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B54526-A288-4BA5-3913-B5E46FF4E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875968"/>
              </p:ext>
            </p:extLst>
          </p:nvPr>
        </p:nvGraphicFramePr>
        <p:xfrm>
          <a:off x="1562444" y="2762653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916579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8377317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2878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Approach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Complexity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91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Recursive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Tries all combinations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Exponential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37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Dynamic programming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Builds table of subproblems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Polynomial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8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25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F7DF1-76DA-DF2C-D86F-1793C9B9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all computation times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2C8D-3574-F884-D77E-89F86752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 6: bar chart summary shows average time for;</a:t>
            </a:r>
          </a:p>
          <a:p>
            <a:r>
              <a:rPr lang="en-US" dirty="0"/>
              <a:t>Recursive bisection</a:t>
            </a:r>
          </a:p>
          <a:p>
            <a:r>
              <a:rPr lang="en-US" dirty="0"/>
              <a:t>Recursive vs dynamic Fibonacci</a:t>
            </a:r>
          </a:p>
          <a:p>
            <a:r>
              <a:rPr lang="en-US" dirty="0"/>
              <a:t>Recursive vs dynamic knapsack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78057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D82E-676D-4DF4-ABB6-323B6B41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755AD-F113-4F14-AA39-766A4C67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Summary:</a:t>
            </a:r>
          </a:p>
          <a:p>
            <a:r>
              <a:rPr lang="en-US" dirty="0">
                <a:solidFill>
                  <a:schemeClr val="bg1"/>
                </a:solidFill>
              </a:rPr>
              <a:t>Recursive and simpler logic, higher time complexity</a:t>
            </a:r>
          </a:p>
          <a:p>
            <a:r>
              <a:rPr lang="en-US" dirty="0">
                <a:solidFill>
                  <a:schemeClr val="bg1"/>
                </a:solidFill>
              </a:rPr>
              <a:t>Dynamic programming and faster, efficient memory use</a:t>
            </a:r>
          </a:p>
          <a:p>
            <a:r>
              <a:rPr lang="en-US" dirty="0">
                <a:solidFill>
                  <a:schemeClr val="bg1"/>
                </a:solidFill>
              </a:rPr>
              <a:t>MATLAB plots show clear visual performance differences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Applications:</a:t>
            </a:r>
          </a:p>
          <a:p>
            <a:r>
              <a:rPr lang="en-US" dirty="0">
                <a:solidFill>
                  <a:schemeClr val="bg1"/>
                </a:solidFill>
              </a:rPr>
              <a:t>Numerical analysis (root finding)</a:t>
            </a:r>
          </a:p>
          <a:p>
            <a:r>
              <a:rPr lang="en-US" dirty="0">
                <a:solidFill>
                  <a:schemeClr val="bg1"/>
                </a:solidFill>
              </a:rPr>
              <a:t>Optimization problems(Fibonacci, knapsack)</a:t>
            </a:r>
          </a:p>
        </p:txBody>
      </p:sp>
    </p:spTree>
    <p:extLst>
      <p:ext uri="{BB962C8B-B14F-4D97-AF65-F5344CB8AC3E}">
        <p14:creationId xmlns:p14="http://schemas.microsoft.com/office/powerpoint/2010/main" val="3973906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652</TotalTime>
  <Words>512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Tw Cen MT</vt:lpstr>
      <vt:lpstr>Circuit</vt:lpstr>
      <vt:lpstr>MATLAB PRESENTATION By GROUP 11</vt:lpstr>
      <vt:lpstr>Group 11 MEMEBERS</vt:lpstr>
      <vt:lpstr>MATLAB background</vt:lpstr>
      <vt:lpstr>Comparison of recursive and dynamic programming approaches in numerical and algorithm problem solving using matlab</vt:lpstr>
      <vt:lpstr>Methods used</vt:lpstr>
      <vt:lpstr>Overview of numerical method(bisection)</vt:lpstr>
      <vt:lpstr>Projectile motion problem </vt:lpstr>
      <vt:lpstr>Fibonacci problem</vt:lpstr>
      <vt:lpstr>Knapsack problem</vt:lpstr>
      <vt:lpstr>Summary of all computation times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ASIGNMENT PRESENTATION BY GROUP F</dc:title>
  <dc:creator>EDMOND</dc:creator>
  <cp:lastModifiedBy>Keith Adams Abesiga</cp:lastModifiedBy>
  <cp:revision>50</cp:revision>
  <dcterms:created xsi:type="dcterms:W3CDTF">2025-09-09T04:08:07Z</dcterms:created>
  <dcterms:modified xsi:type="dcterms:W3CDTF">2025-10-22T07:08:07Z</dcterms:modified>
</cp:coreProperties>
</file>